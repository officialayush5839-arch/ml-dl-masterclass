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8FAFC"/>
                </a:solidFill>
              </a:defRPr>
            </a:pPr>
            <a:r>
              <a:t>MACHINE</a:t>
            </a:r>
            <a:br/>
            <a:r>
              <a:t>LEARNING</a:t>
            </a:r>
          </a:p>
          <a:p>
            <a:pPr>
              <a:spcBef>
                <a:spcPts val="1600"/>
              </a:spcBef>
              <a:defRPr sz="1400">
                <a:solidFill>
                  <a:srgbClr val="94A3B8"/>
                </a:solidFill>
              </a:defRPr>
            </a:pPr>
            <a:r>
              <a:t>An Introduction to ML, Deep Learning &amp; the AI Ecosystem</a:t>
            </a:r>
            <a:br/>
            <a:r>
              <a:t>Teaching Machines to Learn from Data</a:t>
            </a:r>
          </a:p>
          <a:p>
            <a:pPr>
              <a:spcBef>
                <a:spcPts val="1400"/>
              </a:spcBef>
              <a:defRPr sz="1600" b="1">
                <a:solidFill>
                  <a:srgbClr val="FF5500"/>
                </a:solidFill>
              </a:defRPr>
            </a:pPr>
            <a:r>
              <a:t>Presented by Ayush Vishwakarma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5500"/>
                </a:solidFill>
              </a:defRPr>
            </a:pPr>
            <a:r>
              <a:t>01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39" y="566928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5500"/>
                </a:solidFill>
              </a:defRPr>
            </a:pPr>
            <a:r>
              <a:t>02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59" y="566928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5500"/>
                </a:solidFill>
              </a:defRPr>
            </a:pPr>
            <a:r>
              <a:t>03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79" y="566928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5500"/>
                </a:solidFill>
              </a:defRPr>
            </a:pPr>
            <a:r>
              <a:t>04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566928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5500"/>
                </a:solidFill>
              </a:defRPr>
            </a:pPr>
            <a:r>
              <a:t>05 DECISION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CAN A MACHINE LEARN WITHOUT</a:t>
            </a:r>
            <a:br/>
            <a:r>
              <a:t>BEING EXPLICITLY PROGRAMMED?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1463040"/>
          </a:xfrm>
          <a:prstGeom prst="roundRect">
            <a:avLst/>
          </a:prstGeom>
          <a:solidFill>
            <a:srgbClr val="0D111E"/>
          </a:solidFill>
          <a:ln w="19050">
            <a:solidFill>
              <a:srgbClr val="A3E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YouTube / Netflix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What should you watch next?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44510171520" y="2011680"/>
            <a:ext cx="3291840" cy="1463040"/>
          </a:xfrm>
          <a:prstGeom prst="roundRect">
            <a:avLst/>
          </a:prstGeom>
          <a:solidFill>
            <a:srgbClr val="0D111E"/>
          </a:solidFill>
          <a:ln w="19050">
            <a:solidFill>
              <a:srgbClr val="A3E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Email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Is this spam?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89019611520" y="2011680"/>
            <a:ext cx="3291840" cy="1463040"/>
          </a:xfrm>
          <a:prstGeom prst="roundRect">
            <a:avLst/>
          </a:prstGeom>
          <a:solidFill>
            <a:srgbClr val="0D111E"/>
          </a:solidFill>
          <a:ln w="19050">
            <a:solidFill>
              <a:srgbClr val="A3E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Phone Camera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What is in this image?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106984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8FAFC"/>
                </a:solidFill>
              </a:defRPr>
            </a:pPr>
            <a:r>
              <a:t>How does the machine know?</a:t>
            </a:r>
            <a:br/>
            <a:br/>
            <a:r>
              <a:t>A. Someone programmed every possibility</a:t>
            </a:r>
            <a:br/>
            <a:r>
              <a:t>B. The machine learned patterns from data</a:t>
            </a:r>
            <a:br/>
            <a:r>
              <a:t>C. The machine guesses randomly</a:t>
            </a:r>
            <a:br/>
            <a:br/>
            <a:r>
              <a:t>Reveal: B · It learns patterns from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WHAT ACTUALLY IS MACHINE LEARNING?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2194560"/>
          </a:xfrm>
          <a:prstGeom prst="roundRect">
            <a:avLst/>
          </a:prstGeom>
          <a:solidFill>
            <a:srgbClr val="0D111E"/>
          </a:solidFill>
          <a:ln w="19050">
            <a:solidFill>
              <a:srgbClr val="A3E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Traditional Programming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RULES + DATA</a:t>
            </a:r>
            <a:br/>
            <a:r>
              <a:t>↓</a:t>
            </a:r>
            <a:br/>
            <a:r>
              <a:t>OUTPUT</a:t>
            </a:r>
            <a:br/>
            <a:br/>
            <a:r>
              <a:t>If temperature &gt; 30°C → Turn Fan 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120640" cy="2194560"/>
          </a:xfrm>
          <a:prstGeom prst="roundRect">
            <a:avLst/>
          </a:prstGeom>
          <a:solidFill>
            <a:srgbClr val="0D111E"/>
          </a:solidFill>
          <a:ln w="19050">
            <a:solidFill>
              <a:srgbClr val="A3E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Machine Learning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DATA + EXAMPLES</a:t>
            </a:r>
            <a:br/>
            <a:r>
              <a:t>↓</a:t>
            </a:r>
            <a:br/>
            <a:r>
              <a:t>MODEL → PREDICTION</a:t>
            </a:r>
            <a:br/>
            <a:br/>
            <a:r>
              <a:t>House Features → TrainingData → ML Model → Predicted Price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8FAFC"/>
                </a:solidFill>
              </a:defRPr>
            </a:pPr>
            <a:r>
              <a:t>ML = Learning patterns from data to make predictions or decisions.</a:t>
            </a:r>
            <a:br/>
            <a:br/>
            <a:r>
              <a:t>10,000 pictures of cats and dogs. Rules for every possible cat?</a:t>
            </a:r>
            <a:br/>
            <a:r>
              <a:t>Answer: No. That is where ML becomes useful.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HOW DOES ML LEARN?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291840" cy="3291840"/>
          </a:xfrm>
          <a:prstGeom prst="roundRect">
            <a:avLst/>
          </a:prstGeom>
          <a:solidFill>
            <a:srgbClr val="0D111E"/>
          </a:solidFill>
          <a:ln w="19050">
            <a:solidFill>
              <a:srgbClr val="A3E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SUPERVISED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Learn from labeled examples.</a:t>
            </a:r>
            <a:br/>
            <a:br/>
            <a:r>
              <a:t>Input → Correct Answer</a:t>
            </a:r>
            <a:br/>
            <a:br/>
            <a:r>
              <a:t>• Spam / Not Spam</a:t>
            </a:r>
            <a:br/>
            <a:r>
              <a:t>• House-price prediction</a:t>
            </a:r>
            <a:br/>
            <a:r>
              <a:t>• Image classification</a:t>
            </a:r>
            <a:br/>
            <a:r>
              <a:t>• Disease prediction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44510171520" y="1828800"/>
            <a:ext cx="3291840" cy="3291840"/>
          </a:xfrm>
          <a:prstGeom prst="roundRect">
            <a:avLst/>
          </a:prstGeom>
          <a:solidFill>
            <a:srgbClr val="0D111E"/>
          </a:solidFill>
          <a:ln w="19050">
            <a:solidFill>
              <a:srgbClr val="A3E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UNSUPERVISED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Find patterns without labels.</a:t>
            </a:r>
            <a:br/>
            <a:br/>
            <a:r>
              <a:t>Input → Discover Structure</a:t>
            </a:r>
            <a:br/>
            <a:br/>
            <a:r>
              <a:t>• Customer segmentation</a:t>
            </a:r>
            <a:br/>
            <a:r>
              <a:t>• Anomaly detection</a:t>
            </a:r>
            <a:br/>
            <a:r>
              <a:t>• Grouping documents</a:t>
            </a:r>
            <a:br/>
            <a:r>
              <a:t>• Recommendation systems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89019611520" y="1828800"/>
            <a:ext cx="3291840" cy="3291840"/>
          </a:xfrm>
          <a:prstGeom prst="roundRect">
            <a:avLst/>
          </a:prstGeom>
          <a:solidFill>
            <a:srgbClr val="0D111E"/>
          </a:solidFill>
          <a:ln w="19050">
            <a:solidFill>
              <a:srgbClr val="A3E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REINFORCEMENT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Learn through rewards &amp; penalties.</a:t>
            </a:r>
            <a:br/>
            <a:br/>
            <a:r>
              <a:t>Action → Reward / Penalty → Better Action</a:t>
            </a:r>
            <a:br/>
            <a:br/>
            <a:r>
              <a:t>• Robotics</a:t>
            </a:r>
            <a:br/>
            <a:r>
              <a:t>• Game agents</a:t>
            </a:r>
            <a:br/>
            <a:r>
              <a:t>• Autonomous systems</a:t>
            </a:r>
            <a:br/>
            <a:r>
              <a:t>• Optimization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5500"/>
                </a:solidFill>
              </a:defRPr>
            </a:pPr>
            <a:r>
              <a:t>Predict whether a student will pass using attendance, marks and study hours. Which type?</a:t>
            </a:r>
            <a:br/>
            <a:r>
              <a:t>Answer: SUPERVISED LEARNING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THE AI FAMILY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1206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BD5E1"/>
                </a:solidFill>
              </a:defRPr>
            </a:pPr>
            <a:r>
              <a:t>Artificial Intelligence</a:t>
            </a:r>
            <a:br/>
            <a:r>
              <a:t>└── Machine Learning</a:t>
            </a:r>
            <a:br/>
            <a:r>
              <a:t>    ├── Traditional ML</a:t>
            </a:r>
            <a:br/>
            <a:r>
              <a:t>    └── Deep Learning</a:t>
            </a:r>
            <a:br/>
            <a:r>
              <a:t>        ├── CNNs</a:t>
            </a:r>
            <a:br/>
            <a:r>
              <a:t>        ├── RNNs</a:t>
            </a:r>
            <a:br/>
            <a:r>
              <a:t>        └── Transformers</a:t>
            </a:r>
            <a:br/>
            <a:r>
              <a:t>            ├── NLP &amp; LLMs</a:t>
            </a:r>
            <a:br/>
            <a:r>
              <a:t>            └── Generative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828800"/>
            <a:ext cx="51206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8FAFC"/>
                </a:solidFill>
              </a:defRPr>
            </a:pPr>
            <a:r>
              <a:t>Deep Learning</a:t>
            </a:r>
            <a:br/>
            <a:r>
              <a:t>Neural networks with many layers learn complex representations from large amounts of data.</a:t>
            </a:r>
            <a:br/>
            <a:br/>
            <a:r>
              <a:t>Generative AI</a:t>
            </a:r>
            <a:br/>
            <a:r>
              <a:t>Models that generate new content instead of only classifying or predicting.</a:t>
            </a:r>
            <a:br/>
            <a:br/>
            <a:r>
              <a:t>TEXT · IMAGES · AUDIO · VIDEO · CODE</a:t>
            </a:r>
            <a:br/>
            <a:br/>
            <a:r>
              <a:t>ChatGPT writes an essay. Is that classification?</a:t>
            </a:r>
            <a:br/>
            <a:r>
              <a:t>Answer: No — it is generative modeling.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MEET GANS</a:t>
            </a:r>
          </a:p>
          <a:p>
            <a:pPr>
              <a:spcBef>
                <a:spcPts val="400"/>
              </a:spcBef>
              <a:defRPr sz="1300">
                <a:solidFill>
                  <a:srgbClr val="FF5500"/>
                </a:solidFill>
              </a:defRPr>
            </a:pPr>
            <a:r>
              <a:t>GENERATIVE ADVERSARIAL NETWORKS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2011680"/>
          </a:xfrm>
          <a:prstGeom prst="roundRect">
            <a:avLst/>
          </a:prstGeom>
          <a:solidFill>
            <a:srgbClr val="0D111E"/>
          </a:solidFill>
          <a:ln w="19050">
            <a:solidFill>
              <a:srgbClr val="A3E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GENERATOR ➔ DISCRIMINATOR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Creates fake samples ➔ Real or Fake?</a:t>
            </a:r>
            <a:br/>
            <a:br/>
            <a:r>
              <a:t>COMPETE ➔ LEARN ➔ IMPROVE</a:t>
            </a:r>
            <a:br/>
            <a:r>
              <a:t>'Here is a fake painting.' → 'That is fake.' → 'I will make a better one.'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120640" cy="2011680"/>
          </a:xfrm>
          <a:prstGeom prst="roundRect">
            <a:avLst/>
          </a:prstGeom>
          <a:solidFill>
            <a:srgbClr val="0D111E"/>
          </a:solidFill>
          <a:ln w="19050">
            <a:solidFill>
              <a:srgbClr val="A3E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Which image was generated?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Sample A vs Sample B</a:t>
            </a:r>
            <a:br/>
            <a:br/>
            <a:r>
              <a:t>Guess before the reveal.</a:t>
            </a:r>
            <a:br/>
            <a:r>
              <a:t>Reveal: both samples are AI-generated.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</a:defRPr>
            </a:pPr>
            <a:r>
              <a:t>Eventually: highly realistic outputs (Images · Audio · Video · Text · Code)</a:t>
            </a:r>
            <a:br/>
            <a:br/>
            <a:r>
              <a:t>GANs are an important generative-model family; modern generative AI also includes diffusion and transformer-based models.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ML IS NOT ONE INDUSTRY.</a:t>
            </a:r>
          </a:p>
          <a:p>
            <a:pPr>
              <a:spcBef>
                <a:spcPts val="400"/>
              </a:spcBef>
              <a:defRPr sz="1300">
                <a:solidFill>
                  <a:srgbClr val="FF5500"/>
                </a:solidFill>
              </a:defRPr>
            </a:pPr>
            <a:r>
              <a:t>IT'S A LAYER ACROSS INDUSTRIES.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291840" cy="1645920"/>
          </a:xfrm>
          <a:prstGeom prst="roundRect">
            <a:avLst/>
          </a:prstGeom>
          <a:solidFill>
            <a:srgbClr val="0D111E"/>
          </a:solidFill>
          <a:ln w="19050">
            <a:solidFill>
              <a:srgbClr val="A3E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HEALTHCARE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Diagnosis · Drug discovery · Medical imaging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44510171520" y="1828800"/>
            <a:ext cx="3291840" cy="1645920"/>
          </a:xfrm>
          <a:prstGeom prst="roundRect">
            <a:avLst/>
          </a:prstGeom>
          <a:solidFill>
            <a:srgbClr val="0D111E"/>
          </a:solidFill>
          <a:ln w="19050">
            <a:solidFill>
              <a:srgbClr val="A3E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FINANCE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Fraud detection · Risk scoring · Algorithmic systems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89019611520" y="1828800"/>
            <a:ext cx="3291840" cy="1645920"/>
          </a:xfrm>
          <a:prstGeom prst="roundRect">
            <a:avLst/>
          </a:prstGeom>
          <a:solidFill>
            <a:srgbClr val="0D111E"/>
          </a:solidFill>
          <a:ln w="19050">
            <a:solidFill>
              <a:srgbClr val="A3E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AUTOMOTIVE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ADAS · Autonomous driving · Predictive maintenance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49039"/>
            <a:ext cx="3291840" cy="1645920"/>
          </a:xfrm>
          <a:prstGeom prst="roundRect">
            <a:avLst/>
          </a:prstGeom>
          <a:solidFill>
            <a:srgbClr val="0D111E"/>
          </a:solidFill>
          <a:ln w="19050">
            <a:solidFill>
              <a:srgbClr val="A3E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E-COMMERCE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Recommendations · Search · Demand forecasting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44510171520" y="3749039"/>
            <a:ext cx="3291840" cy="1645920"/>
          </a:xfrm>
          <a:prstGeom prst="roundRect">
            <a:avLst/>
          </a:prstGeom>
          <a:solidFill>
            <a:srgbClr val="0D111E"/>
          </a:solidFill>
          <a:ln w="19050">
            <a:solidFill>
              <a:srgbClr val="A3E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CYBERSECURITY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Threat detection · Anomaly detection · Malware 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89019611520" y="3749039"/>
            <a:ext cx="3291840" cy="1645920"/>
          </a:xfrm>
          <a:prstGeom prst="roundRect">
            <a:avLst/>
          </a:prstGeom>
          <a:solidFill>
            <a:srgbClr val="0D111E"/>
          </a:solidFill>
          <a:ln w="19050">
            <a:solidFill>
              <a:srgbClr val="A3E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MEDIA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Recommendations · Content generation · Personalization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5500"/>
                </a:solidFill>
              </a:defRPr>
            </a:pPr>
            <a:r>
              <a:t>Challenge: 30 seconds. Pick one industry. What is ONE problem ML could solve?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DON'T START WITH 'I WANT TO USE AI.'</a:t>
            </a:r>
          </a:p>
          <a:p>
            <a:pPr>
              <a:spcBef>
                <a:spcPts val="400"/>
              </a:spcBef>
              <a:defRPr sz="1300">
                <a:solidFill>
                  <a:srgbClr val="FF5500"/>
                </a:solidFill>
              </a:defRPr>
            </a:pPr>
            <a:r>
              <a:t>START WITH: 'WHAT PROBLEM DO I HAVE?'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280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5500"/>
                </a:solidFill>
              </a:defRPr>
            </a:pPr>
            <a:r>
              <a:t>01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1828800"/>
            <a:ext cx="1280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5500"/>
                </a:solidFill>
              </a:defRPr>
            </a:pPr>
            <a:r>
              <a:t>02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828800"/>
            <a:ext cx="1280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5500"/>
                </a:solidFill>
              </a:defRPr>
            </a:pPr>
            <a:r>
              <a:t>03 CLEAN &amp; PREP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159" y="1828800"/>
            <a:ext cx="1280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5500"/>
                </a:solidFill>
              </a:defRPr>
            </a:pPr>
            <a:r>
              <a:t>04 CHOOSE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828800"/>
            <a:ext cx="1280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5500"/>
                </a:solidFill>
              </a:defRPr>
            </a:pPr>
            <a:r>
              <a:t>05 TRAIN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1828800"/>
            <a:ext cx="1280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5500"/>
                </a:solidFill>
              </a:defRPr>
            </a:pPr>
            <a:r>
              <a:t>06 EVALUATE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1828800"/>
            <a:ext cx="1280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5500"/>
                </a:solidFill>
              </a:defRPr>
            </a:pPr>
            <a:r>
              <a:t>07 DEPLOY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12680" y="1828800"/>
            <a:ext cx="1280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5500"/>
                </a:solidFill>
              </a:defRPr>
            </a:pPr>
            <a:r>
              <a:t>08 MONITOR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743200"/>
            <a:ext cx="5120640" cy="2926080"/>
          </a:xfrm>
          <a:prstGeom prst="roundRect">
            <a:avLst/>
          </a:prstGeom>
          <a:solidFill>
            <a:srgbClr val="0D111E"/>
          </a:solidFill>
          <a:ln w="19050">
            <a:solidFill>
              <a:srgbClr val="A3E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Problem ➔ Approach (Part 1)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• Predict house prices ➔ Regression</a:t>
            </a:r>
            <a:br/>
            <a:r>
              <a:t>• Detect spam ➔ Classification</a:t>
            </a:r>
            <a:br/>
            <a:r>
              <a:t>• Group customers ➔ Clustering</a:t>
            </a:r>
            <a:br/>
            <a:r>
              <a:t>• Detect unusual transactions ➔ Anomaly Detection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743200"/>
            <a:ext cx="5120640" cy="2926080"/>
          </a:xfrm>
          <a:prstGeom prst="roundRect">
            <a:avLst/>
          </a:prstGeom>
          <a:solidFill>
            <a:srgbClr val="0D111E"/>
          </a:solidFill>
          <a:ln w="19050">
            <a:solidFill>
              <a:srgbClr val="A3E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Problem ➔ Approach (Part 2)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• Recommend products ➔ Recommender System</a:t>
            </a:r>
            <a:br/>
            <a:r>
              <a:t>• Detect objects ➔ Deep Learning</a:t>
            </a:r>
            <a:br/>
            <a:r>
              <a:t>• Crop disease detection ➔ Computer Vision</a:t>
            </a:r>
            <a:br/>
            <a:r>
              <a:t>• Chatbot / document assistant ➔ NLP + LLM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WHAT SKILLS DO YOU ACTUALLY NEED?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011680" cy="2011680"/>
          </a:xfrm>
          <a:prstGeom prst="roundRect">
            <a:avLst/>
          </a:prstGeom>
          <a:solidFill>
            <a:srgbClr val="0D111E"/>
          </a:solidFill>
          <a:ln w="19050">
            <a:solidFill>
              <a:srgbClr val="A3E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Level 1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Python · Git · Problem Solving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9983848319" y="1828800"/>
            <a:ext cx="2011680" cy="2011680"/>
          </a:xfrm>
          <a:prstGeom prst="roundRect">
            <a:avLst/>
          </a:prstGeom>
          <a:solidFill>
            <a:srgbClr val="0D111E"/>
          </a:solidFill>
          <a:ln w="19050">
            <a:solidFill>
              <a:srgbClr val="A3E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Level 2 Data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NumPy · Pandas · SQL · Visualization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9966965120" y="1828800"/>
            <a:ext cx="2011680" cy="2011680"/>
          </a:xfrm>
          <a:prstGeom prst="roundRect">
            <a:avLst/>
          </a:prstGeom>
          <a:solidFill>
            <a:srgbClr val="0D111E"/>
          </a:solidFill>
          <a:ln w="19050">
            <a:solidFill>
              <a:srgbClr val="A3E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Level 3 ML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Scikit-learn · Regression · Classification · Clustering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69950081920" y="1828800"/>
            <a:ext cx="2011680" cy="2011680"/>
          </a:xfrm>
          <a:prstGeom prst="roundRect">
            <a:avLst/>
          </a:prstGeom>
          <a:solidFill>
            <a:srgbClr val="0D111E"/>
          </a:solidFill>
          <a:ln w="19050">
            <a:solidFill>
              <a:srgbClr val="A3E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Level 4 DL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PyTorch / TensorFlow · Neural Networks · CNNs · Transformers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9933198720" y="1828800"/>
            <a:ext cx="2011680" cy="2011680"/>
          </a:xfrm>
          <a:prstGeom prst="roundRect">
            <a:avLst/>
          </a:prstGeom>
          <a:solidFill>
            <a:srgbClr val="0D111E"/>
          </a:solidFill>
          <a:ln w="19050">
            <a:solidFill>
              <a:srgbClr val="A3E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Level 5 Prod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APIs · Docker · Cloud · MLOps · Monitoring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97680"/>
            <a:ext cx="106984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Careers: ML Engineer · Data Scientist · AI / Deep Learning Engineer · MLOps Engineer · Computer Vision Engineer · NLP / LLM Engineer · Research Engineer · AI Researcher</a:t>
            </a:r>
            <a:br/>
            <a:br/>
            <a:r>
              <a:t>You do NOT need to learn everything before building your first project.</a:t>
            </a:r>
            <a:br/>
            <a:r>
              <a:t>Python → Data → Basic ML → Project → Deep Learning</a:t>
            </a:r>
            <a:br/>
            <a:br/>
            <a:r>
              <a:t>Poll: Which role sounds most interesting? BUILD · ANALYZE · RESEARCH · DEPLOY · CREATE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DON'T JUST WATCH. BUILD.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4114800"/>
          </a:xfrm>
          <a:prstGeom prst="roundRect">
            <a:avLst/>
          </a:prstGeom>
          <a:solidFill>
            <a:srgbClr val="0D111E"/>
          </a:solidFill>
          <a:ln w="19050">
            <a:solidFill>
              <a:srgbClr val="A3E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AUTHENTIC RESOURCES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• Google Machine Learning Crash Course</a:t>
            </a:r>
            <a:br/>
            <a:r>
              <a:t>• Microsoft ML for Beginners</a:t>
            </a:r>
            <a:br/>
            <a:r>
              <a:t>• DeepLearning.AI Machine Learning Specialization</a:t>
            </a:r>
            <a:br/>
            <a:r>
              <a:t>• fast.ai · Practical Deep Learning for Coders</a:t>
            </a:r>
            <a:br/>
            <a:r>
              <a:t>• 3Blue1Brown · Neural Networks</a:t>
            </a:r>
            <a:br/>
            <a:br/>
            <a:r>
              <a:t>01 Start → 02 Learn ML → 03 Build 3–5 Projects → 04 Deep Learning → 05 Go Professional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120640" cy="4114800"/>
          </a:xfrm>
          <a:prstGeom prst="roundRect">
            <a:avLst/>
          </a:prstGeom>
          <a:solidFill>
            <a:srgbClr val="0D111E"/>
          </a:solidFill>
          <a:ln w="19050">
            <a:solidFill>
              <a:srgbClr val="A3E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YOUR TURN.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1. What problem around you generates data?</a:t>
            </a:r>
            <a:br/>
            <a:r>
              <a:t>2. Could ML learn something from that data?</a:t>
            </a:r>
            <a:br/>
            <a:r>
              <a:t>3. What would you build?</a:t>
            </a:r>
            <a:br/>
            <a:br/>
            <a:r>
              <a:t>'You don't need to become an AI expert to start. You need a problem, some data, and the curiosity to experiment.'</a:t>
            </a:r>
            <a:br/>
            <a:br/>
            <a:r>
              <a:t>AYUSH VISHWAKARMA · Machine Learning · From Data to Intelligence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